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2099733"/>
            <a:ext cx="8823360" cy="2677648"/>
          </a:xfrm>
        </p:spPr>
        <p:txBody>
          <a:bodyPr anchor="b"/>
          <a:lstStyle>
            <a:lvl1pPr>
              <a:defRPr sz="53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6210" y="1792264"/>
            <a:ext cx="990599" cy="304720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49143" y="3227872"/>
            <a:ext cx="3859795" cy="30472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49844" y="295730"/>
            <a:ext cx="837981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654" y="2603500"/>
            <a:ext cx="8823361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2677645"/>
            <a:ext cx="4349892" cy="2283824"/>
          </a:xfrm>
        </p:spPr>
        <p:txBody>
          <a:bodyPr anchor="ctr"/>
          <a:lstStyle>
            <a:lvl1pPr algn="l">
              <a:defRPr sz="3999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3764" y="2677644"/>
            <a:ext cx="3756566" cy="2283824"/>
          </a:xfrm>
        </p:spPr>
        <p:txBody>
          <a:bodyPr anchor="ctr"/>
          <a:lstStyle>
            <a:lvl1pPr marL="0" indent="0" algn="l">
              <a:buNone/>
              <a:defRPr sz="1999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1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653" y="2603501"/>
            <a:ext cx="4823901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096" y="2603500"/>
            <a:ext cx="4823902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2603500"/>
            <a:ext cx="482390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653" y="3179763"/>
            <a:ext cx="4823901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7096" y="2603500"/>
            <a:ext cx="482390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7096" y="3179763"/>
            <a:ext cx="4823902" cy="2840039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759131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4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8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295400"/>
            <a:ext cx="2792431" cy="16002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641" y="1447800"/>
            <a:ext cx="5188714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653" y="3129281"/>
            <a:ext cx="2792431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693334"/>
            <a:ext cx="3864127" cy="1735667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6165" y="1143000"/>
            <a:ext cx="322635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653" y="3657600"/>
            <a:ext cx="3858207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4969927"/>
            <a:ext cx="8823361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1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5536665"/>
            <a:ext cx="8823360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499" y="1063417"/>
            <a:ext cx="8829516" cy="1372986"/>
          </a:xfrm>
        </p:spPr>
        <p:txBody>
          <a:bodyPr/>
          <a:lstStyle>
            <a:lvl1pPr>
              <a:defRPr sz="39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543300"/>
            <a:ext cx="8823361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40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337" y="607336"/>
            <a:ext cx="8017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59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1884" y="2613787"/>
            <a:ext cx="6525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59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466" y="982134"/>
            <a:ext cx="8451704" cy="2696632"/>
          </a:xfrm>
        </p:spPr>
        <p:txBody>
          <a:bodyPr/>
          <a:lstStyle>
            <a:lvl1pPr>
              <a:defRPr sz="39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439" y="3678766"/>
            <a:ext cx="7729206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5029200"/>
            <a:ext cx="9242489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69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2370667"/>
            <a:ext cx="8823362" cy="1822514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5024967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76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3" y="2603502"/>
            <a:ext cx="31410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653" y="3179765"/>
            <a:ext cx="3141061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1547" y="2603500"/>
            <a:ext cx="314618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1547" y="3179764"/>
            <a:ext cx="314618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081" y="2603501"/>
            <a:ext cx="3144911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275" y="3179763"/>
            <a:ext cx="3144717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282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0377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5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3" y="4532844"/>
            <a:ext cx="304964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206" y="2603500"/>
            <a:ext cx="26905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653" y="5109106"/>
            <a:ext cx="3049644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7675" y="4532845"/>
            <a:ext cx="3049644" cy="576263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7226" y="2603500"/>
            <a:ext cx="26905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982" y="5109105"/>
            <a:ext cx="3049644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0697" y="4532845"/>
            <a:ext cx="305030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0905" y="2603500"/>
            <a:ext cx="26905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0696" y="5109104"/>
            <a:ext cx="305030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468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5771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0965" y="6391839"/>
            <a:ext cx="3643333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70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654" y="2603500"/>
            <a:ext cx="8823361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2654" y="6391839"/>
            <a:ext cx="990341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7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3000" y="1278467"/>
            <a:ext cx="1409598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654" y="1278467"/>
            <a:ext cx="6254396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0330" y="6391839"/>
            <a:ext cx="991877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654" y="973668"/>
            <a:ext cx="8759131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2603500"/>
            <a:ext cx="8759131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330" y="6391839"/>
            <a:ext cx="990341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964" y="6391839"/>
            <a:ext cx="385879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5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Jornada IGA do Living Lab Fiqueok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Caos Controlado à Arquitetura API-First</a:t>
            </a:r>
          </a:p>
          <a:p>
            <a:r>
              <a:t>Paulo Feitosa Lima</a:t>
            </a:r>
          </a:p>
          <a:p>
            <a:r>
              <a:t>GRC/IAM Lead — Fiqueok Consultoria</a:t>
            </a:r>
          </a:p>
          <a:p>
            <a:r>
              <a:t>Data: Abril/2026</a:t>
            </a:r>
          </a:p>
          <a:p>
            <a:r>
              <a:t>Projetos: PRJ002 → PRJ003 → PRJ004 → PRJ005 → PRJ006 → PRJ008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Queríamos</a:t>
            </a:r>
          </a:p>
          <a:p>
            <a:r>
              <a:t>OrangeHRM (RH) → midPoint (IGA) → Active Directory</a:t>
            </a:r>
          </a:p>
          <a:p>
            <a:r>
              <a:t>O Que Tínhamos</a:t>
            </a:r>
          </a:p>
          <a:p>
            <a:r>
              <a:t>- Processo manual de exportação CSV</a:t>
            </a:r>
          </a:p>
          <a:p>
            <a:r>
              <a:t>- Corrupção de encoding (acentuação)</a:t>
            </a:r>
          </a:p>
          <a:p>
            <a:r>
              <a:t>- Ausência de rastreabilidade</a:t>
            </a:r>
          </a:p>
          <a:p>
            <a:r>
              <a:t>- Ciclo JML (Joiner/Mover/Leaver) não automatizado</a:t>
            </a:r>
          </a:p>
          <a:p>
            <a:r>
              <a:t>O Prazo Estimado Inicial: 2 semanas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Linha do Tempo (Visão Geral)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Período | Projeto | Objetivo | Resultado</a:t>
            </a:r>
          </a:p>
          <a:p>
            <a:r>
              <a:t>Dez/2025 | PRJ002 | Integração direta | Falhou</a:t>
            </a:r>
          </a:p>
          <a:p>
            <a:r>
              <a:t>Jan/2026 | PRJ003 | Base Greenfield | Sucesso</a:t>
            </a:r>
          </a:p>
          <a:p>
            <a:r>
              <a:t>Jan/2026 | PRJ004 | CSV → midPoint → LDAP | Sucesso</a:t>
            </a:r>
          </a:p>
          <a:p>
            <a:r>
              <a:t>Fev/2026 | PRJ005 | Infra JDBC | Sucesso</a:t>
            </a:r>
          </a:p>
          <a:p>
            <a:r>
              <a:t>Fev/2026 | PRJ006 | JDBC no midPoint | Abortado</a:t>
            </a:r>
          </a:p>
          <a:p>
            <a:r>
              <a:t>Abr/2026 | PRJ008 | Shadow API REST | FROZEN</a:t>
            </a:r>
          </a:p>
          <a:p>
            <a:r>
              <a:t>Aprendizado: 5 meses. O problema não era a equipe.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PRJ002: O Primeiro Baque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 Que Tentamos</a:t>
            </a:r>
          </a:p>
          <a:p>
            <a:r>
              <a:t>- Conector DatabaseTable (JDBC direto)</a:t>
            </a:r>
          </a:p>
          <a:p>
            <a:r>
              <a:t>- Mapeamento de 78 atributos do AD</a:t>
            </a:r>
          </a:p>
          <a:p>
            <a:r>
              <a:t>- Linking manual de usuários</a:t>
            </a:r>
          </a:p>
          <a:p>
            <a:r>
              <a:t>O Que Deu Errado</a:t>
            </a:r>
          </a:p>
          <a:p>
            <a:r>
              <a:t>- Schema do OrangeHRM altamente normalizado</a:t>
            </a:r>
          </a:p>
          <a:p>
            <a:r>
              <a:t>- Test Connection 5/5 ≠ sincronização funcional</a:t>
            </a:r>
          </a:p>
          <a:p>
            <a:r>
              <a:t>- 4 GMUDs perdidas no conector errado</a:t>
            </a:r>
          </a:p>
          <a:p>
            <a:r>
              <a:t>Lição: Test Connection 5/5 é mentira. Não valida schema mapping, não valida correlação.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PRJ003: A Base Greenfield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 Que Construímos</a:t>
            </a:r>
          </a:p>
          <a:p>
            <a:r>
              <a:t>- midPoint 4.10 + PostgreSQL 16</a:t>
            </a:r>
          </a:p>
          <a:p>
            <a:r>
              <a:t>- VM dedicada com IP estável</a:t>
            </a:r>
          </a:p>
          <a:p>
            <a:r>
              <a:t>- Docker Compose com healthcheck</a:t>
            </a:r>
          </a:p>
          <a:p>
            <a:r>
              <a:t>- Script de deploy idempotente (PowerShell)</a:t>
            </a:r>
          </a:p>
          <a:p>
            <a:r>
              <a:t>Desafios Enfrentados</a:t>
            </a:r>
          </a:p>
          <a:p>
            <a:r>
              <a:t>- Fallback silencioso para H2 (19 tentativas)</a:t>
            </a:r>
          </a:p>
          <a:p>
            <a:r>
              <a:t>- Incompatibilidade PostgreSQL SCRAM-SHA-256</a:t>
            </a:r>
          </a:p>
          <a:p>
            <a:r>
              <a:t>- Bug de precedência no entrypoint (4.8 → 4.10)</a:t>
            </a:r>
          </a:p>
          <a:p>
            <a:r>
              <a:t>Lição: Não se constrói IGA sobre infraestrutura instável.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PRJ004: O CSV Que Salvou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Funcionou</a:t>
            </a:r>
          </a:p>
          <a:p>
            <a:r>
              <a:t>- Fonte autoritativa CSV</a:t>
            </a:r>
          </a:p>
          <a:p>
            <a:r>
              <a:t>- Correlação por personalNumber (Âncora de Ouro)</a:t>
            </a:r>
          </a:p>
          <a:p>
            <a:r>
              <a:t>- Reações de sincronização: Unmatched → Add focus</a:t>
            </a:r>
          </a:p>
          <a:p>
            <a:r>
              <a:t>- Ciclo JML completo validado</a:t>
            </a:r>
          </a:p>
          <a:p>
            <a:r>
              <a:t>Evidência: 10 colaboradores importados, 171 objetos, zero erros</a:t>
            </a:r>
          </a:p>
          <a:p>
            <a:r>
              <a:t>Lição: CSV é feio, mas funciona. PRJ004 provou que o motor IGA está operacional.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PRJ005: Infra JDBC Perfeita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Entregamos</a:t>
            </a:r>
          </a:p>
          <a:p>
            <a:r>
              <a:t>- Conectividade TCP porta 3306 validada</a:t>
            </a:r>
          </a:p>
          <a:p>
            <a:r>
              <a:t>- Firewall UFW restrito ao IP do IGA</a:t>
            </a:r>
          </a:p>
          <a:p>
            <a:r>
              <a:t>- Usuário svc_shadow_api — SELECT apenas</a:t>
            </a:r>
          </a:p>
          <a:p>
            <a:r>
              <a:t>- Query SQL com JOINs otimizada</a:t>
            </a:r>
          </a:p>
          <a:p>
            <a:r>
              <a:t>- HashiCorp Vault integrado</a:t>
            </a:r>
          </a:p>
          <a:p>
            <a:r>
              <a:t>Status: Tudo funcionando tecnicamente</a:t>
            </a:r>
          </a:p>
          <a:p>
            <a:r>
              <a:t>Lição: Infraestrutura perfeita não garante integridade de identidade.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PRJ006: O Ponto de Virada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 Que Tentamos</a:t>
            </a:r>
          </a:p>
          <a:p>
            <a:r>
              <a:t>- Resource JDBC no midPoint</a:t>
            </a:r>
          </a:p>
          <a:p>
            <a:r>
              <a:t>- Correlação baseada em emp_number</a:t>
            </a:r>
          </a:p>
          <a:p>
            <a:r>
              <a:t>- Reações de sincronização</a:t>
            </a:r>
          </a:p>
          <a:p>
            <a:r>
              <a:t>O Que Aconteceu</a:t>
            </a:r>
          </a:p>
          <a:p>
            <a:r>
              <a:t>- Correlação nunca funcionava (sempre UNMATCHED)</a:t>
            </a:r>
          </a:p>
          <a:p>
            <a:r>
              <a:t>- Reações não disparavam</a:t>
            </a:r>
          </a:p>
          <a:p>
            <a:r>
              <a:t>- Usuários criados manualmente não correlacionavam</a:t>
            </a:r>
          </a:p>
          <a:p>
            <a:r>
              <a:t>A Descoberta: JDBC em sistemas modernos é anti-padrão arquitetural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Decisão: Abortar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 Que Abortamos</a:t>
            </a:r>
          </a:p>
          <a:p>
            <a:r>
              <a:t>- Violação de Encapsulamento: Bypass das regras de negócio do OrangeHRM</a:t>
            </a:r>
          </a:p>
          <a:p>
            <a:r>
              <a:t>- Acoplamento de Baixo Nível: Dependência do schema interno do banco</a:t>
            </a:r>
          </a:p>
          <a:p>
            <a:r>
              <a:t>- Duplicação de Lógica: Regras reimplementadas em SQL</a:t>
            </a:r>
          </a:p>
          <a:p>
            <a:r>
              <a:t>- Fragilidade: Mudança de versão = integração quebrada</a:t>
            </a:r>
          </a:p>
          <a:p>
            <a:r>
              <a:t>Decisão Estratégica: Migrar para API REST</a:t>
            </a:r>
          </a:p>
          <a:p>
            <a:r>
              <a:t>Lição: APIs existem para abstrair complexidade. Respeite esse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PRJ008: A Shadow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Construímos (Sprints 1–5)</a:t>
            </a:r>
          </a:p>
          <a:p>
            <a:r>
              <a:t>- API REST — FastAPI + Python 3.12</a:t>
            </a:r>
          </a:p>
          <a:p>
            <a:r>
              <a:t>- Autenticação — OAuth2 + X-API-KEY</a:t>
            </a:r>
          </a:p>
          <a:p>
            <a:r>
              <a:t>- Gestão de Segredos — HashiCorp Vault</a:t>
            </a:r>
          </a:p>
          <a:p>
            <a:r>
              <a:t>- Normalização — UTF-8 NFC</a:t>
            </a:r>
          </a:p>
          <a:p>
            <a:r>
              <a:t>- DevSecOps — Bandit + Safety + GitHub Actions</a:t>
            </a:r>
          </a:p>
          <a:p>
            <a:r>
              <a:t>- Health Check — L3 (liveness, readiness, deps)</a:t>
            </a:r>
          </a:p>
          <a:p>
            <a:r>
              <a:t>A Shadow API está ATIVA e FUNCIONANDO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Bloqueio Inesperado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Tentamos (Sprint 6)</a:t>
            </a:r>
          </a:p>
          <a:p>
            <a:r>
              <a:t>- Polygon REST Connector — Não existe como JAR standalone</a:t>
            </a:r>
          </a:p>
          <a:p>
            <a:r>
              <a:t>- ScriptedREST 1.1.1.e2 — Incompatível com Java 21</a:t>
            </a:r>
          </a:p>
          <a:p>
            <a:r>
              <a:t>A Realidade:</a:t>
            </a:r>
          </a:p>
          <a:p>
            <a:r>
              <a:t>- midPoint 4.10 = Java 21</a:t>
            </a:r>
          </a:p>
          <a:p>
            <a:r>
              <a:t>- Não há conector REST pronto para Java 21</a:t>
            </a:r>
          </a:p>
          <a:p>
            <a:r>
              <a:t>- A única saída é build customizada ou aguardar</a:t>
            </a:r>
          </a:p>
          <a:p>
            <a:r>
              <a:t>Status Atual: PROJETO FROZEN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Aprendemos (Lições-Chave)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Test Connection 5/5 não garante sincronização</a:t>
            </a:r>
          </a:p>
          <a:p>
            <a:r>
              <a:t>2. JDBC em sistemas modernos é anti-padrão</a:t>
            </a:r>
          </a:p>
          <a:p>
            <a:r>
              <a:t>3. Infraestrutura estável é pré-requisito</a:t>
            </a:r>
          </a:p>
          <a:p>
            <a:r>
              <a:t>4. CSV funciona e é válido como fonte</a:t>
            </a:r>
          </a:p>
          <a:p>
            <a:r>
              <a:t>5. Não existe conector REST pronto para midPoint 4.10/Java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Estado Atual (14/04/2026)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TAILSCALE MESH VPN</a:t>
            </a:r>
          </a:p>
          <a:p>
            <a:r>
              <a:t>api-gf-01 — Shadow API ATIVA</a:t>
            </a:r>
          </a:p>
          <a:p>
            <a:r>
              <a:t>iga-gf-02 — midPoint 4.10 ATIVO</a:t>
            </a:r>
          </a:p>
          <a:p>
            <a:r>
              <a:t>rh-gf-01 — OrangeHRM ATIVO</a:t>
            </a:r>
          </a:p>
          <a:p>
            <a:r>
              <a:t>vault-gf-01 — Vault ATIVO</a:t>
            </a:r>
          </a:p>
          <a:p>
            <a:r>
              <a:t>O Que Funciona:</a:t>
            </a:r>
          </a:p>
          <a:p>
            <a:r>
              <a:t>- Shadow API → retorna JSON dos colaboradores</a:t>
            </a:r>
          </a:p>
          <a:p>
            <a:r>
              <a:t>- midPoint → operacional com PostgreSQL</a:t>
            </a:r>
          </a:p>
          <a:p>
            <a:r>
              <a:t>- CSV → midPoint → AD (ciclo JML completo)</a:t>
            </a:r>
          </a:p>
          <a:p>
            <a:r>
              <a:t>O Que Não Funciona:</a:t>
            </a:r>
          </a:p>
          <a:p>
            <a:r>
              <a:t>- Shadow API → midPoint (conector REST inexistente)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Próximo Passo (Opção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Build Maven do connector-rest Polygon</a:t>
            </a:r>
          </a:p>
          <a:p>
            <a:r>
              <a:t>Comandos:</a:t>
            </a:r>
          </a:p>
          <a:p>
            <a:r>
              <a:t>git clone https://github.com/Evolveum/polygon</a:t>
            </a:r>
          </a:p>
          <a:p>
            <a:r>
              <a:t>cd polygon</a:t>
            </a:r>
          </a:p>
          <a:p>
            <a:r>
              <a:t>mvn clean install -pl connector-rest -am -Dmaven.test.skip=true</a:t>
            </a:r>
          </a:p>
          <a:p>
            <a:r>
              <a:t>JAR gerado em: polygon/connector-rest/target/</a:t>
            </a:r>
          </a:p>
          <a:p>
            <a:r>
              <a:t>Prazo estimado: 4-8 horas</a:t>
            </a:r>
          </a:p>
          <a:p>
            <a:r>
              <a:t>Riscos:</a:t>
            </a:r>
          </a:p>
          <a:p>
            <a:r>
              <a:t>- Dependências incompatíveis com Java 21</a:t>
            </a:r>
          </a:p>
          <a:p>
            <a:r>
              <a:t>- Cadeia de build pode falhar</a:t>
            </a:r>
          </a:p>
          <a:p>
            <a:r>
              <a:t>Plano B: Aceitar CSV como fonte autoritativa (já funciona)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O Que Esta Jornada Provou</a:t>
            </a:r>
          </a:p>
          <a:p>
            <a:r>
              <a:t>1. O midPoint funciona — PRJ003 e PRJ004 comprovam</a:t>
            </a:r>
          </a:p>
          <a:p>
            <a:r>
              <a:t>2. O problema não é código — é falta de conector pronto</a:t>
            </a:r>
          </a:p>
          <a:p>
            <a:r>
              <a:t>3. CSV é uma alternativa válida — já entregaria o ciclo JML</a:t>
            </a:r>
          </a:p>
          <a:p>
            <a:r>
              <a:t>4. A Shadow API é um ativo reutilizável — independente do midPoint</a:t>
            </a:r>
          </a:p>
          <a:p>
            <a:r>
              <a:t>Mensagem Final:</a:t>
            </a:r>
          </a:p>
          <a:p>
            <a:r>
              <a:t>Cinco meses. Sete projetos. Uma descoberta: às vezes o bloqueio não está no seu código, está na ferramenta.</a:t>
            </a:r>
          </a:p>
          <a:p>
            <a:r>
              <a:t>Próximo Passo: Build Maven do conector → ou CSV → ou migrar para outro IGA.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</TotalTime>
  <Words>1006</Words>
  <Application>Microsoft Office PowerPoint</Application>
  <PresentationFormat>Personalizar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Íon - Sala da Diretoria</vt:lpstr>
      <vt:lpstr>A Jornada IGA do Living Lab Fiqueok</vt:lpstr>
      <vt:lpstr>O Problema de Negócio</vt:lpstr>
      <vt:lpstr>A Linha do Tempo (Visão Geral)</vt:lpstr>
      <vt:lpstr>PRJ002: O Primeiro Baque</vt:lpstr>
      <vt:lpstr>PRJ003: A Base Greenfield</vt:lpstr>
      <vt:lpstr>PRJ004: O CSV Que Salvou</vt:lpstr>
      <vt:lpstr>PRJ005: Infra JDBC Perfeita</vt:lpstr>
      <vt:lpstr>PRJ006: O Ponto de Virada</vt:lpstr>
      <vt:lpstr>A Decisão: Abortar JDBC</vt:lpstr>
      <vt:lpstr>PRJ008: A Shadow API</vt:lpstr>
      <vt:lpstr>O Bloqueio Inesperado</vt:lpstr>
      <vt:lpstr>O Que Aprendemos (Lições-Chave)</vt:lpstr>
      <vt:lpstr>O Estado Atual (14/04/2026)</vt:lpstr>
      <vt:lpstr>O Próximo Passo (Opção A)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fiqueok</dc:creator>
  <cp:keywords/>
  <dc:description>generated using python-pptx</dc:description>
  <cp:lastModifiedBy>Paulo Lima</cp:lastModifiedBy>
  <cp:revision>2</cp:revision>
  <dcterms:created xsi:type="dcterms:W3CDTF">2013-01-27T09:14:16Z</dcterms:created>
  <dcterms:modified xsi:type="dcterms:W3CDTF">2026-05-03T14:54:20Z</dcterms:modified>
  <cp:category/>
</cp:coreProperties>
</file>